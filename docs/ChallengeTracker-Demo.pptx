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6400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Inter"/>
              </a:rPr>
              <a:t>ChallengeTracker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1F5F9"/>
                </a:solidFill>
                <a:latin typeface="Inter"/>
              </a:rPr>
              <a:t>Daily challenges, real progress,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4ADE80"/>
                </a:solidFill>
                <a:latin typeface="Inter"/>
              </a:rPr>
              <a:t>live leaderboards.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Inter"/>
              </a:rPr>
              <a:t>Fullstack group project · ASP.NET Core 10 · React 19 · two weeks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521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5998464"/>
            <a:ext cx="164592" cy="1645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85216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0A5FA"/>
                </a:solidFill>
                <a:latin typeface="Inter"/>
              </a:rPr>
              <a:t>Rud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58521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77440" y="5998464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585216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Inter"/>
              </a:rPr>
              <a:t>Umi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40" y="585216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31920" y="5998464"/>
            <a:ext cx="164592" cy="16459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585216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Inter"/>
              </a:rPr>
              <a:t>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Tracker Trio · WBS Coding School SE-004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Inter"/>
              </a:rPr>
              <a:t>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Inter"/>
              </a:rPr>
              <a:t>Foundation · DbContext · Migrations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8580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60A5FA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Three-layer Minimal API: Api / Application / Infrastructure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60A5FA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EF Core + SQLite, switchable to Azure SQL via connection string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60A5FA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ApplicationDbContext extends IdentityDbContext&lt;User, IdentityRole&lt;Guid&gt;, Guid&gt;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60A5FA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Single InitialCreate migration covers Identity + four domain tables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60A5FA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Scalar UI on /scalar/v1, ProblemDetails (RFC 7807) on every error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920240"/>
            <a:ext cx="3931920" cy="3108960"/>
          </a:xfrm>
          <a:prstGeom prst="roundRect">
            <a:avLst>
              <a:gd name="adj" fmla="val 8000"/>
            </a:avLst>
          </a:prstGeom>
          <a:solidFill>
            <a:srgbClr val="1A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0960" y="2070240"/>
            <a:ext cx="3631920" cy="28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Api/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Endpoints/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Filters/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Dtos/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Application/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Interfaces/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Services/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Infrastructure/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ApplicationDbContext.cs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Data/DbSeeder.cs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Models/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Migrations/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97135" y="60807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61727" y="6204204"/>
            <a:ext cx="164592" cy="1645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81183" y="6080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Inter"/>
              </a:rPr>
              <a:t>Rud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Inter"/>
              </a:rPr>
              <a:t>Domain Model &amp;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Inter"/>
              </a:rPr>
              <a:t>Entities · Status transitions · 1-per-day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4008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FBBF24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Four entities: User, Challenge, Membership, ProgressEntry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FBBF24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Challenge owns memberships and progress entries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FBBF24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ChallengeStatus state machine: Open → Running → Completed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FBBF24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Owner-only transitions; ArgumentException maps to 400 ProblemDetails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FBBF24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Unique index (UserId, ChallengeId, LoggedAt) → 1-per-day rule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103120"/>
            <a:ext cx="1280160" cy="640080"/>
          </a:xfrm>
          <a:prstGeom prst="roundRect">
            <a:avLst>
              <a:gd name="adj" fmla="val 30000"/>
            </a:avLst>
          </a:prstGeom>
          <a:solidFill>
            <a:srgbClr val="1A2127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1031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94A3B8"/>
                </a:solidFill>
                <a:latin typeface="Inter"/>
              </a:rPr>
              <a:t>Open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103120"/>
            <a:ext cx="1280160" cy="640080"/>
          </a:xfrm>
          <a:prstGeom prst="roundRect">
            <a:avLst>
              <a:gd name="adj" fmla="val 30000"/>
            </a:avLst>
          </a:prstGeom>
          <a:solidFill>
            <a:srgbClr val="1A21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21031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BF24"/>
                </a:solidFill>
                <a:latin typeface="Inter"/>
              </a:rPr>
              <a:t>Running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2103120"/>
            <a:ext cx="1280160" cy="640080"/>
          </a:xfrm>
          <a:prstGeom prst="roundRect">
            <a:avLst>
              <a:gd name="adj" fmla="val 30000"/>
            </a:avLst>
          </a:prstGeom>
          <a:solidFill>
            <a:srgbClr val="1A2127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10312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ADE80"/>
                </a:solidFill>
                <a:latin typeface="Inter"/>
              </a:rPr>
              <a:t>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25856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258568"/>
            <a:ext cx="228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200400"/>
            <a:ext cx="4114800" cy="2286000"/>
          </a:xfrm>
          <a:prstGeom prst="roundRect">
            <a:avLst>
              <a:gd name="adj" fmla="val 8000"/>
            </a:avLst>
          </a:prstGeom>
          <a:solidFill>
            <a:srgbClr val="1A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5200" y="3350400"/>
            <a:ext cx="3814800" cy="19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if (challenge.Status != ChallengeStatus.Open)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throw new ArgumentException(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"Challenge cannot be started.");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challenge.Status = ChallengeStatus.Running;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await _db.SaveChangesAsync();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97135" y="60807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61727" y="6204204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81183" y="6080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Inter"/>
              </a:rPr>
              <a:t>Umi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Inter"/>
              </a:rPr>
              <a:t>Frontend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Inter"/>
              </a:rPr>
              <a:t>Vite · React 19 · TanStack Query · Zod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4008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4ADE80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Vite + React 19 + TypeScript strict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4ADE80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Tailwind 4 + DaisyUI for instant design language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4ADE80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TanStack Query for fetching, caching, mutations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4ADE80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Zod for form schemas with cross-field rules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4ADE80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React Router v7 for routing &amp; ProtectedRoute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4ADE80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react-toastify for success / error / 429 messages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920240"/>
            <a:ext cx="4297680" cy="3840480"/>
          </a:xfrm>
          <a:prstGeom prst="roundRect">
            <a:avLst>
              <a:gd name="adj" fmla="val 5000"/>
            </a:avLst>
          </a:prstGeom>
          <a:solidFill>
            <a:srgbClr val="1A2127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14884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Inter"/>
              </a:rPr>
              <a:t>frontend/src/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697480"/>
            <a:ext cx="374904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4ADE80"/>
                </a:solidFill>
                <a:latin typeface="Inter"/>
              </a:rPr>
              <a:t>▸  </a:t>
            </a:r>
            <a:r>
              <a:rPr sz="1400">
                <a:solidFill>
                  <a:srgbClr val="F1F5F9"/>
                </a:solidFill>
                <a:latin typeface="Inter"/>
              </a:rPr>
              <a:t>components/  Reusable UI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4ADE80"/>
                </a:solidFill>
                <a:latin typeface="Inter"/>
              </a:rPr>
              <a:t>▸  </a:t>
            </a:r>
            <a:r>
              <a:rPr sz="1400">
                <a:solidFill>
                  <a:srgbClr val="F1F5F9"/>
                </a:solidFill>
                <a:latin typeface="Inter"/>
              </a:rPr>
              <a:t>pages/  Route components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4ADE80"/>
                </a:solidFill>
                <a:latin typeface="Inter"/>
              </a:rPr>
              <a:t>▸  </a:t>
            </a:r>
            <a:r>
              <a:rPr sz="1400">
                <a:solidFill>
                  <a:srgbClr val="F1F5F9"/>
                </a:solidFill>
                <a:latin typeface="Inter"/>
              </a:rPr>
              <a:t>data/  TanStack Query hooks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4ADE80"/>
                </a:solidFill>
                <a:latin typeface="Inter"/>
              </a:rPr>
              <a:t>▸  </a:t>
            </a:r>
            <a:r>
              <a:rPr sz="1400">
                <a:solidFill>
                  <a:srgbClr val="F1F5F9"/>
                </a:solidFill>
                <a:latin typeface="Inter"/>
              </a:rPr>
              <a:t>contexts/  AuthContext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4ADE80"/>
                </a:solidFill>
                <a:latin typeface="Inter"/>
              </a:rPr>
              <a:t>▸  </a:t>
            </a:r>
            <a:r>
              <a:rPr sz="1400">
                <a:solidFill>
                  <a:srgbClr val="F1F5F9"/>
                </a:solidFill>
                <a:latin typeface="Inter"/>
              </a:rPr>
              <a:t>utils/  api.ts, problemDetails.ts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4ADE80"/>
                </a:solidFill>
                <a:latin typeface="Inter"/>
              </a:rPr>
              <a:t>▸  </a:t>
            </a:r>
            <a:r>
              <a:rPr sz="1400">
                <a:solidFill>
                  <a:srgbClr val="F1F5F9"/>
                </a:solidFill>
                <a:latin typeface="Inter"/>
              </a:rPr>
              <a:t>types/  Mirrors backend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97135" y="60807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61727" y="6204204"/>
            <a:ext cx="164592" cy="16459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81183" y="6080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Inter"/>
              </a:rPr>
              <a:t>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Inter"/>
              </a:rPr>
              <a:t>Authentication &amp; JWT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Inter"/>
              </a:rPr>
              <a:t>Identity · Bearer tokens · Validation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8580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60A5FA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ASP.NET Core Identity for password hashing &amp; user store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60A5FA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JWT Bearer with 64-char symmetric key from configuration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60A5FA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Token claims: sub (user id), email, displayName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60A5FA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POST /auth/register, POST /auth/login, GET /auth/me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60A5FA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Custom WithValidation&lt;T&gt;() filter → 400 ProblemDetails on invalid DTOs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920240"/>
            <a:ext cx="3931920" cy="3291840"/>
          </a:xfrm>
          <a:prstGeom prst="roundRect">
            <a:avLst>
              <a:gd name="adj" fmla="val 8000"/>
            </a:avLst>
          </a:prstGeom>
          <a:solidFill>
            <a:srgbClr val="1A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0960" y="2070240"/>
            <a:ext cx="3631920" cy="29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var claims = new[]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new Claim(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JwtRegisteredClaimNames.Sub,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user.Id.ToString()),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new Claim(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JwtRegisteredClaimNames.Email,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user.Email),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new Claim("displayName",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user.DisplayName)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};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97135" y="60807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61727" y="6204204"/>
            <a:ext cx="164592" cy="1645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81183" y="6080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Inter"/>
              </a:rPr>
              <a:t>Rud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Inter"/>
              </a:rPr>
              <a:t>Memberships &amp;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Inter"/>
              </a:rPr>
              <a:t>Join/Leave · 1-per-day · 24h edit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8580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FBBF24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Public challenge → Active immediately; private → Pending until owner approves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FBBF24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Re-join after Leave reactivates the existing row (avoids unique-index conflict)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FBBF24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Progress logging stack: challenge Running + active membership + within window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FBBF24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1-per-day pre-check returns clean 409, unique index is the safety net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FBBF24"/>
                </a:solidFill>
                <a:latin typeface="Inter"/>
              </a:rPr>
              <a:t>▸  </a:t>
            </a:r>
            <a:r>
              <a:rPr sz="1800">
                <a:solidFill>
                  <a:srgbClr val="F1F5F9"/>
                </a:solidFill>
                <a:latin typeface="Inter"/>
              </a:rPr>
              <a:t>Edit &amp; delete window: owner-only, 24h after creation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920240"/>
            <a:ext cx="3931920" cy="3291840"/>
          </a:xfrm>
          <a:prstGeom prst="roundRect">
            <a:avLst>
              <a:gd name="adj" fmla="val 8000"/>
            </a:avLst>
          </a:prstGeom>
          <a:solidFill>
            <a:srgbClr val="1A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0960" y="2070240"/>
            <a:ext cx="3631920" cy="29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var existing = await _db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.ProgressEntries.AnyAsync(p =&gt;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p.UserId == userId &amp;&amp;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p.ChallengeId == dto.ChallengeId &amp;&amp;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p.LoggedAt == loggedAt);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if (existing)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throw new InvalidOpException(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"Already logged today.");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97135" y="60807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61727" y="6204204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81183" y="6080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Inter"/>
              </a:rPr>
              <a:t>Umi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Inter"/>
              </a:rPr>
              <a:t>UI Components &amp; Mutations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Inter"/>
              </a:rPr>
              <a:t>TanStack Query · Optimistic UX · Toasts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8580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4ADE80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ChallengeCard, ChallengeStateBadge — reusable visual building blocks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4ADE80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JoinLeaveButton flips action based on useMyMembership query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4ADE80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OwnerActions renders Start when Open, Complete when Running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4ADE80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LogProgressForm with Zod validation + 409/429-aware toasts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4ADE80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Leaderboard table with rank, avatar initials, totals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4ADE80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ErrorBoundary + NotFoundPage for graceful failure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920240"/>
            <a:ext cx="3931920" cy="3291840"/>
          </a:xfrm>
          <a:prstGeom prst="roundRect">
            <a:avLst>
              <a:gd name="adj" fmla="val 8000"/>
            </a:avLst>
          </a:prstGeom>
          <a:solidFill>
            <a:srgbClr val="1A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0960" y="2070240"/>
            <a:ext cx="3631920" cy="29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function useLogProgress(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challengeId: string) {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return useMutation({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mutationFn: payload =&gt;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  api(`/progress-entries`,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    { method: "POST",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      body: payload }),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onSuccess: () =&gt; qc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    .invalidateQueries(...)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  });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BD5E1"/>
                </a:solidFill>
                <a:latin typeface="JetBrains Mono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97135" y="60807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61727" y="6204204"/>
            <a:ext cx="164592" cy="16459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81183" y="6080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Inter"/>
              </a:rPr>
              <a:t>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Inter"/>
              </a:rPr>
              <a:t>Docker · Health · CORS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60A5FA"/>
                </a:solidFill>
                <a:latin typeface="Inter"/>
              </a:rPr>
              <a:t>One-command stack · Production-ready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4008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60A5FA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Multi-stage Dockerfile: SDK image builds, slim aspnet runtime hosts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60A5FA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docker-compose.yml runs the API on :8080 with named SQLite volume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60A5FA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Healthcheck pings /health every 15s — Compose reports container state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60A5FA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/health = liveness, /ready = DB connectivity + pending migrations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60A5FA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CORS policy reads origins from env so deployment can extend it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60A5FA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Both endpoints exempt from rate limiting and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920240"/>
            <a:ext cx="4297680" cy="3657600"/>
          </a:xfrm>
          <a:prstGeom prst="roundRect">
            <a:avLst>
              <a:gd name="adj" fmla="val 8000"/>
            </a:avLst>
          </a:prstGeom>
          <a:solidFill>
            <a:srgbClr val="1A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5200" y="2070240"/>
            <a:ext cx="3997680" cy="33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services: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api: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build: ./backend/...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ports: ["8080:8080"]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environment: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  Jwt__Key: ${JWT_KEY}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  ConnectionStrings__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    DefaultConnection: ...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volumes: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  - challenge-data:/app/data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healthcheck: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  test: [/health]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97135" y="60807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61727" y="6204204"/>
            <a:ext cx="164592" cy="1645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81183" y="6080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Inter"/>
              </a:rPr>
              <a:t>Rud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Inter"/>
              </a:rPr>
              <a:t>Leaderboard &amp; Rate Limiting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Inter"/>
              </a:rPr>
              <a:t>Aggregate queries · Per-user 429s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4008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FBBF24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Leaderboard groups progress entries by user, sums amounts, ranks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FBBF24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Public endpoint (no auth) — embeddable on a future landing page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FBBF24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Two rate-limit policies: progress-post 10/min, general-post 5/min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FBBF24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Partition key = NameIdentifier claim → per-user buckets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FBBF24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UseRateLimiter() runs after UseAuthentication so claims resolve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FBBF24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Rejection writes 429 + Retry-After + ProblemDetails body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920240"/>
            <a:ext cx="4297680" cy="3840480"/>
          </a:xfrm>
          <a:prstGeom prst="roundRect">
            <a:avLst>
              <a:gd name="adj" fmla="val 8000"/>
            </a:avLst>
          </a:prstGeom>
          <a:solidFill>
            <a:srgbClr val="1A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65200" y="2070240"/>
            <a:ext cx="3997680" cy="35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options.AddPolicy(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"progress-post", ctx =&gt;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RateLimitPartition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.GetFixedWindowLimiter(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  partitionKey: GetUserId(ctx),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  factory: _ =&gt; new ()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  {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    PermitLimit = 10,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    Window = TimeSpan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      .FromMinutes(1)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  }));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97135" y="60807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161727" y="6204204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81183" y="6080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Inter"/>
              </a:rPr>
              <a:t>Umi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Inter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Inter"/>
              </a:rPr>
              <a:t>End-to-end flow · localhost:5173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8580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4ADE80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Login as Alice → start the seeded challenge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4ADE80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Log in as Bob → see Leave button (active member detection works)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4ADE80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Log progress 25 pages → toast confirms, leaderboard updates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4ADE80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Log again same day → 409 toast "already logged for today"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4ADE80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Spam the button → 429 toast with Retry-After hint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4ADE80"/>
                </a:solidFill>
                <a:latin typeface="Inter"/>
              </a:rPr>
              <a:t>▸  </a:t>
            </a:r>
            <a:r>
              <a:rPr sz="1700">
                <a:solidFill>
                  <a:srgbClr val="F1F5F9"/>
                </a:solidFill>
                <a:latin typeface="Inter"/>
              </a:rPr>
              <a:t>Visit /not-a-route → NotFoundPage rendered inside the layout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920240"/>
            <a:ext cx="3931920" cy="3108960"/>
          </a:xfrm>
          <a:prstGeom prst="roundRect">
            <a:avLst>
              <a:gd name="adj" fmla="val 6000"/>
            </a:avLst>
          </a:prstGeom>
          <a:solidFill>
            <a:srgbClr val="1A2127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0" y="214884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Inter"/>
              </a:rPr>
              <a:t>LIVE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26060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JetBrains Mono"/>
              </a:rPr>
              <a:t>localhost:5173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32004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Inter"/>
              </a:rPr>
              <a:t>Seed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3520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JetBrains Mono"/>
              </a:rPr>
              <a:t>alice@example.com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38862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JetBrains Mono"/>
              </a:rPr>
              <a:t>bob@example.com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42976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JetBrains Mono"/>
              </a:rPr>
              <a:t>Password1!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97135" y="608076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61727" y="6204204"/>
            <a:ext cx="164592" cy="16459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81183" y="6080760"/>
            <a:ext cx="1371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Inter"/>
              </a:rPr>
              <a:t>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Inter"/>
              </a:rP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Inter"/>
              </a:rPr>
              <a:t>Tracker Trio · WBS Coding School SE-004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03520" cy="3840480"/>
          </a:xfrm>
          <a:prstGeom prst="roundRect">
            <a:avLst>
              <a:gd name="adj" fmla="val 4000"/>
            </a:avLst>
          </a:prstGeom>
          <a:solidFill>
            <a:srgbClr val="1A2127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60A5FA"/>
                </a:solidFill>
                <a:latin typeface="Inter"/>
              </a:rPr>
              <a:t>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457200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1">
                <a:solidFill>
                  <a:srgbClr val="60A5FA"/>
                </a:solidFill>
                <a:latin typeface="Inter"/>
              </a:rPr>
              <a:t>▸  </a:t>
            </a:r>
            <a:r>
              <a:rPr sz="1500">
                <a:solidFill>
                  <a:srgbClr val="F1F5F9"/>
                </a:solidFill>
                <a:latin typeface="Inter"/>
              </a:rPr>
              <a:t>Optimistic cache surgery (zero-flicker mutations)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60A5FA"/>
                </a:solidFill>
                <a:latin typeface="Inter"/>
              </a:rPr>
              <a:t>▸  </a:t>
            </a:r>
            <a:r>
              <a:rPr sz="1500">
                <a:solidFill>
                  <a:srgbClr val="F1F5F9"/>
                </a:solidFill>
                <a:latin typeface="Inter"/>
              </a:rPr>
              <a:t>Daily / weekly leaderboard periods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60A5FA"/>
                </a:solidFill>
                <a:latin typeface="Inter"/>
              </a:rPr>
              <a:t>▸  </a:t>
            </a:r>
            <a:r>
              <a:rPr sz="1500">
                <a:solidFill>
                  <a:srgbClr val="F1F5F9"/>
                </a:solidFill>
                <a:latin typeface="Inter"/>
              </a:rPr>
              <a:t>Astro landing page on the root domain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60A5FA"/>
                </a:solidFill>
                <a:latin typeface="Inter"/>
              </a:rPr>
              <a:t>▸  </a:t>
            </a:r>
            <a:r>
              <a:rPr sz="1500">
                <a:solidFill>
                  <a:srgbClr val="F1F5F9"/>
                </a:solidFill>
                <a:latin typeface="Inter"/>
              </a:rPr>
              <a:t>Azure deployment: App Service + SQL + SWA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5303520" cy="3840480"/>
          </a:xfrm>
          <a:prstGeom prst="roundRect">
            <a:avLst>
              <a:gd name="adj" fmla="val 4000"/>
            </a:avLst>
          </a:prstGeom>
          <a:solidFill>
            <a:srgbClr val="1A2127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ADE80"/>
                </a:solidFill>
                <a:latin typeface="Inter"/>
              </a:rPr>
              <a:t>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063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JetBrains Mono"/>
              </a:rPr>
              <a:t>github.com/Maximilian-D-Muhr/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3832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JetBrains Mono"/>
              </a:rPr>
              <a:t>  WBS-Challenge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023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ADE80"/>
                </a:solidFill>
                <a:latin typeface="Inter"/>
              </a:rPr>
              <a:t>Quick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389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JetBrains Mono"/>
              </a:rPr>
              <a:t>$ docker compose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7548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JetBrains Mono"/>
              </a:rPr>
              <a:t>$ npm run dev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2707" y="6217920"/>
            <a:ext cx="1417320" cy="41148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97299" y="6341364"/>
            <a:ext cx="164592" cy="1645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6755" y="6217920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Inter"/>
              </a:rPr>
              <a:t>Rud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87187" y="6217920"/>
            <a:ext cx="1417320" cy="41148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51779" y="6341364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1235" y="6217920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Inter"/>
              </a:rPr>
              <a:t>Umi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1667" y="6217920"/>
            <a:ext cx="1417320" cy="411480"/>
          </a:xfrm>
          <a:prstGeom prst="roundRect">
            <a:avLst>
              <a:gd name="adj" fmla="val 50000"/>
            </a:avLst>
          </a:prstGeom>
          <a:solidFill>
            <a:srgbClr val="1A2127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06259" y="6341364"/>
            <a:ext cx="164592" cy="16459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5715" y="6217920"/>
            <a:ext cx="960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ADE80"/>
                </a:solidFill>
                <a:latin typeface="Inter"/>
              </a:rPr>
              <a:t>Max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